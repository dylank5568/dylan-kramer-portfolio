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9"/>
  </p:notesMasterIdLst>
  <p:sldIdLst>
    <p:sldId id="256" r:id="rId2"/>
    <p:sldId id="258" r:id="rId3"/>
    <p:sldId id="259" r:id="rId4"/>
    <p:sldId id="260" r:id="rId5"/>
    <p:sldId id="261" r:id="rId6"/>
    <p:sldId id="262" r:id="rId7"/>
    <p:sldId id="263"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20" dt="2026-09-28T21:55:01.578"/>
    <p1510:client id="{0A4792BB-C24F-C0F9-03B3-F8F2B509CD36}" v="22" dt="2026-09-29T19:52:16.173"/>
    <p1510:client id="{166681A5-D213-415A-54D5-D876B8311BB2}" v="137" dt="2026-09-28T21:49:11.738"/>
    <p1510:client id="{247E07CE-8C31-B182-4281-77C94276270C}" v="3" dt="2026-09-29T19:52:52.781"/>
    <p1510:client id="{5F5DBAC6-4FFE-E42C-5CC2-9939D101239C}" v="13" dt="2026-09-28T21:44:33.868"/>
    <p1510:client id="{809B21E5-0935-10BF-DF71-56C6481F5D7F}" v="44" dt="2026-09-29T20:00:53.364"/>
    <p1510:client id="{9C4D33C5-856B-EC27-1D34-0D9CC13E896C}" v="70" dt="2026-09-28T21:49:17.607"/>
    <p1510:client id="{D8EFB3E8-3478-94B7-8C68-43783A9B64C8}" v="18" dt="2026-09-28T21:54:24.59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578BBAB-6B88-4398-8EFB-2F8D68F5C4C9}" type="datetimeFigureOut">
              <a:t>10/6/2026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6C9850-5F0B-481C-A418-01BA11062157}" type="slidenum">
              <a:t>‹#›</a:t>
            </a:fld>
            <a:endParaRPr lang="en-US"/>
          </a:p>
        </p:txBody>
      </p:sp>
    </p:spTree>
    <p:extLst>
      <p:ext uri="{BB962C8B-B14F-4D97-AF65-F5344CB8AC3E}">
        <p14:creationId xmlns:p14="http://schemas.microsoft.com/office/powerpoint/2010/main" val="33053404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Video game players may have ideas to modify and create retro-style games, such as changing styling, characters, and game mechanics. However, that may require technical knowledge and skills many fans don't have, preventing them from making the updates themself. AI Arcade aims to bring these people's wildest imaginations to life in the games they know and love. Using players' natural language descriptions of their changes, an AI model modifies or creates game files, as well as performs necessary code validations. Additionally, a deployment pipeline to a physical arcade cabinet allows users to play their own games immediately after changing them. AI Arcade aims to eliminate the technical barrier preventing users from updating their games and promoting creativity. </a:t>
            </a:r>
          </a:p>
          <a:p>
            <a:endParaRPr lang="en-US">
              <a:ea typeface="Calibri"/>
              <a:cs typeface="Calibri"/>
            </a:endParaRPr>
          </a:p>
        </p:txBody>
      </p:sp>
      <p:sp>
        <p:nvSpPr>
          <p:cNvPr id="4" name="Slide Number Placeholder 3"/>
          <p:cNvSpPr>
            <a:spLocks noGrp="1"/>
          </p:cNvSpPr>
          <p:nvPr>
            <p:ph type="sldNum" sz="quarter" idx="5"/>
          </p:nvPr>
        </p:nvSpPr>
        <p:spPr/>
        <p:txBody>
          <a:bodyPr/>
          <a:lstStyle/>
          <a:p>
            <a:fld id="{D06C9850-5F0B-481C-A418-01BA11062157}" type="slidenum">
              <a:t>3</a:t>
            </a:fld>
            <a:endParaRPr lang="en-US"/>
          </a:p>
        </p:txBody>
      </p:sp>
    </p:spTree>
    <p:extLst>
      <p:ext uri="{BB962C8B-B14F-4D97-AF65-F5344CB8AC3E}">
        <p14:creationId xmlns:p14="http://schemas.microsoft.com/office/powerpoint/2010/main" val="29896340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B61BEF0D-F0BB-DE4B-95CE-6DB70DBA9567}" type="datetimeFigureOut">
              <a:rPr lang="en-US" dirty="0"/>
              <a:pPr/>
              <a:t>10/6/2026</a:t>
            </a:fld>
            <a:endParaRPr lang="en-US"/>
          </a:p>
        </p:txBody>
      </p:sp>
      <p:sp>
        <p:nvSpPr>
          <p:cNvPr id="5" name="Footer Placeholder 4"/>
          <p:cNvSpPr>
            <a:spLocks noGrp="1"/>
          </p:cNvSpPr>
          <p:nvPr>
            <p:ph type="ftr" sz="quarter" idx="11"/>
          </p:nvPr>
        </p:nvSpPr>
        <p:spPr>
          <a:xfrm>
            <a:off x="5332412" y="5883275"/>
            <a:ext cx="4324044" cy="365125"/>
          </a:xfrm>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9480799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951856" y="5867131"/>
            <a:ext cx="551167" cy="365125"/>
          </a:xfrm>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1216851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156102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61BEF0D-F0BB-DE4B-95CE-6DB70DBA9567}" type="datetimeFigureOut">
              <a:rPr lang="en-US" dirty="0"/>
              <a:pPr/>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0264665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61BEF0D-F0BB-DE4B-95CE-6DB70DBA9567}" type="datetimeFigureOut">
              <a:rPr lang="en-US" dirty="0"/>
              <a:pPr/>
              <a:t>10/6/2026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16583851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61BEF0D-F0BB-DE4B-95CE-6DB70DBA9567}" type="datetimeFigureOut">
              <a:rPr lang="en-US" dirty="0"/>
              <a:pPr/>
              <a:t>10/6/2026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3376344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10/6/2026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7477371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6060092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5929110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6524911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6019639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228966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7413387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125757701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12901495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142026301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9337168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10/6/2026</a:t>
            </a:fld>
            <a:endParaRPr lang="en-US"/>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a:p>
        </p:txBody>
      </p:sp>
    </p:spTree>
    <p:extLst>
      <p:ext uri="{BB962C8B-B14F-4D97-AF65-F5344CB8AC3E}">
        <p14:creationId xmlns:p14="http://schemas.microsoft.com/office/powerpoint/2010/main" val="288541756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AI Arcade</a:t>
            </a:r>
          </a:p>
        </p:txBody>
      </p:sp>
      <p:sp>
        <p:nvSpPr>
          <p:cNvPr id="3" name="Subtitle 2"/>
          <p:cNvSpPr>
            <a:spLocks noGrp="1"/>
          </p:cNvSpPr>
          <p:nvPr>
            <p:ph type="subTitle" idx="1"/>
          </p:nvPr>
        </p:nvSpPr>
        <p:spPr/>
        <p:txBody>
          <a:bodyPr vert="horz" lIns="91440" tIns="45720" rIns="91440" bIns="45720" rtlCol="0" anchor="t">
            <a:normAutofit/>
          </a:bodyPr>
          <a:lstStyle/>
          <a:p>
            <a:r>
              <a:rPr lang="en-US">
                <a:latin typeface="Aptos"/>
                <a:cs typeface="Arial"/>
              </a:rPr>
              <a:t>Problem and User Needs</a:t>
            </a:r>
            <a:endParaRPr lang="en-US"/>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A8B00E-FB6B-1618-41F9-B2FBD176D460}"/>
              </a:ext>
            </a:extLst>
          </p:cNvPr>
          <p:cNvSpPr>
            <a:spLocks noGrp="1"/>
          </p:cNvSpPr>
          <p:nvPr>
            <p:ph type="title"/>
          </p:nvPr>
        </p:nvSpPr>
        <p:spPr/>
        <p:txBody>
          <a:bodyPr/>
          <a:lstStyle/>
          <a:p>
            <a:r>
              <a:rPr lang="en-US"/>
              <a:t>Project Overview </a:t>
            </a:r>
          </a:p>
        </p:txBody>
      </p:sp>
      <p:sp>
        <p:nvSpPr>
          <p:cNvPr id="3" name="Content Placeholder 2">
            <a:extLst>
              <a:ext uri="{FF2B5EF4-FFF2-40B4-BE49-F238E27FC236}">
                <a16:creationId xmlns:a16="http://schemas.microsoft.com/office/drawing/2014/main" id="{9F336493-904E-9F57-CDF2-376C28D1976F}"/>
              </a:ext>
            </a:extLst>
          </p:cNvPr>
          <p:cNvSpPr>
            <a:spLocks noGrp="1"/>
          </p:cNvSpPr>
          <p:nvPr>
            <p:ph idx="1"/>
          </p:nvPr>
        </p:nvSpPr>
        <p:spPr/>
        <p:txBody>
          <a:bodyPr vert="horz" lIns="91440" tIns="45720" rIns="91440" bIns="45720" rtlCol="0" anchor="t">
            <a:normAutofit/>
          </a:bodyPr>
          <a:lstStyle/>
          <a:p>
            <a:r>
              <a:rPr lang="en-US"/>
              <a:t>Expand on a working prototype and identify the feasibility of a physical arcade machine that allows users to modify or create retro games and put them on a physical system utilizing AI </a:t>
            </a:r>
          </a:p>
          <a:p>
            <a:r>
              <a:rPr lang="en-US"/>
              <a:t>Improve current AI authoring through:</a:t>
            </a:r>
          </a:p>
          <a:p>
            <a:pPr lvl="1"/>
            <a:r>
              <a:rPr lang="en-US"/>
              <a:t>User testing and design</a:t>
            </a:r>
          </a:p>
          <a:p>
            <a:pPr lvl="1"/>
            <a:r>
              <a:rPr lang="en-US"/>
              <a:t>Expansion and redesign based on user needs</a:t>
            </a:r>
          </a:p>
          <a:p>
            <a:pPr lvl="1"/>
            <a:r>
              <a:rPr lang="en-US"/>
              <a:t>Improving UI/UX</a:t>
            </a:r>
          </a:p>
          <a:p>
            <a:pPr lvl="1"/>
            <a:r>
              <a:rPr lang="en-US"/>
              <a:t>Creating security controls for AI</a:t>
            </a:r>
          </a:p>
          <a:p>
            <a:r>
              <a:rPr lang="en-US"/>
              <a:t>Create a physical arcade machine for playing the games</a:t>
            </a:r>
          </a:p>
        </p:txBody>
      </p:sp>
    </p:spTree>
    <p:extLst>
      <p:ext uri="{BB962C8B-B14F-4D97-AF65-F5344CB8AC3E}">
        <p14:creationId xmlns:p14="http://schemas.microsoft.com/office/powerpoint/2010/main" val="11819171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E4C92B-62C0-6E7C-5ABC-B8A17730A2FB}"/>
              </a:ext>
            </a:extLst>
          </p:cNvPr>
          <p:cNvSpPr>
            <a:spLocks noGrp="1"/>
          </p:cNvSpPr>
          <p:nvPr>
            <p:ph type="title"/>
          </p:nvPr>
        </p:nvSpPr>
        <p:spPr>
          <a:xfrm>
            <a:off x="1426584" y="-1155"/>
            <a:ext cx="10018713" cy="1752599"/>
          </a:xfrm>
        </p:spPr>
        <p:txBody>
          <a:bodyPr/>
          <a:lstStyle/>
          <a:p>
            <a:r>
              <a:rPr lang="en-US"/>
              <a:t>Project Statement   </a:t>
            </a:r>
          </a:p>
        </p:txBody>
      </p:sp>
      <p:sp>
        <p:nvSpPr>
          <p:cNvPr id="3" name="Content Placeholder 2">
            <a:extLst>
              <a:ext uri="{FF2B5EF4-FFF2-40B4-BE49-F238E27FC236}">
                <a16:creationId xmlns:a16="http://schemas.microsoft.com/office/drawing/2014/main" id="{5B0ED67A-B54D-6CFA-0EB6-AB375D2DA5A9}"/>
              </a:ext>
            </a:extLst>
          </p:cNvPr>
          <p:cNvSpPr>
            <a:spLocks noGrp="1"/>
          </p:cNvSpPr>
          <p:nvPr>
            <p:ph idx="1"/>
          </p:nvPr>
        </p:nvSpPr>
        <p:spPr>
          <a:xfrm>
            <a:off x="723182" y="1566833"/>
            <a:ext cx="10860655" cy="4926432"/>
          </a:xfrm>
        </p:spPr>
        <p:txBody>
          <a:bodyPr vert="horz" lIns="91440" tIns="45720" rIns="91440" bIns="45720" rtlCol="0" anchor="t">
            <a:normAutofit lnSpcReduction="10000"/>
          </a:bodyPr>
          <a:lstStyle/>
          <a:p>
            <a:pPr>
              <a:buFont typeface="Arial"/>
              <a:buChar char="•"/>
            </a:pPr>
            <a:r>
              <a:rPr lang="en-US" b="1">
                <a:ea typeface="+mn-lt"/>
                <a:cs typeface="+mn-lt"/>
              </a:rPr>
              <a:t>Problem:</a:t>
            </a:r>
            <a:r>
              <a:rPr lang="en-US">
                <a:ea typeface="+mn-lt"/>
                <a:cs typeface="+mn-lt"/>
              </a:rPr>
              <a:t> Many gamers have creative ideas for modifying retro games but lack the technical skills to implement them.</a:t>
            </a:r>
          </a:p>
          <a:p>
            <a:pPr>
              <a:buFont typeface="Arial"/>
              <a:buChar char="•"/>
            </a:pPr>
            <a:r>
              <a:rPr lang="en-US" b="1">
                <a:ea typeface="+mn-lt"/>
                <a:cs typeface="+mn-lt"/>
              </a:rPr>
              <a:t>AI-Powered Customization:</a:t>
            </a:r>
            <a:r>
              <a:rPr lang="en-US">
                <a:ea typeface="+mn-lt"/>
                <a:cs typeface="+mn-lt"/>
              </a:rPr>
              <a:t> AI Arcade lets users describe desired changes using natural language.</a:t>
            </a:r>
            <a:endParaRPr lang="en-US"/>
          </a:p>
          <a:p>
            <a:pPr>
              <a:buFont typeface="Arial"/>
              <a:buChar char="•"/>
            </a:pPr>
            <a:r>
              <a:rPr lang="en-US" b="1">
                <a:ea typeface="+mn-lt"/>
                <a:cs typeface="+mn-lt"/>
              </a:rPr>
              <a:t>Game Modification:</a:t>
            </a:r>
            <a:r>
              <a:rPr lang="en-US">
                <a:ea typeface="+mn-lt"/>
                <a:cs typeface="+mn-lt"/>
              </a:rPr>
              <a:t> The AI can modify game files</a:t>
            </a:r>
          </a:p>
          <a:p>
            <a:pPr>
              <a:buFont typeface="Arial"/>
              <a:buChar char="•"/>
            </a:pPr>
            <a:r>
              <a:rPr lang="en-US" b="1">
                <a:ea typeface="+mn-lt"/>
                <a:cs typeface="+mn-lt"/>
              </a:rPr>
              <a:t>Automatic Validation:</a:t>
            </a:r>
            <a:r>
              <a:rPr lang="en-US">
                <a:ea typeface="+mn-lt"/>
                <a:cs typeface="+mn-lt"/>
              </a:rPr>
              <a:t> AI Arcade performs necessary code checks and validations to ensure the game works correctly.</a:t>
            </a:r>
          </a:p>
          <a:p>
            <a:r>
              <a:rPr lang="en-US" b="1">
                <a:ea typeface="+mn-lt"/>
                <a:cs typeface="+mn-lt"/>
              </a:rPr>
              <a:t>Fast Deployment:</a:t>
            </a:r>
            <a:r>
              <a:rPr lang="en-US">
                <a:ea typeface="+mn-lt"/>
                <a:cs typeface="+mn-lt"/>
              </a:rPr>
              <a:t> A non-technical user can setup the device and use it. "Plug and play" </a:t>
            </a:r>
            <a:endParaRPr lang="en-US"/>
          </a:p>
          <a:p>
            <a:pPr>
              <a:buFont typeface="Arial"/>
              <a:buChar char="•"/>
            </a:pPr>
            <a:r>
              <a:rPr lang="en-US" b="1">
                <a:ea typeface="+mn-lt"/>
                <a:cs typeface="+mn-lt"/>
              </a:rPr>
              <a:t>Main Goal:</a:t>
            </a:r>
            <a:r>
              <a:rPr lang="en-US">
                <a:ea typeface="+mn-lt"/>
                <a:cs typeface="+mn-lt"/>
              </a:rPr>
              <a:t> Remove technical barriers and allow players to turn creative ideas into playable games immediately.</a:t>
            </a:r>
          </a:p>
          <a:p>
            <a:pPr marL="0" indent="0">
              <a:buNone/>
            </a:pPr>
            <a:endParaRPr lang="en-US"/>
          </a:p>
        </p:txBody>
      </p:sp>
    </p:spTree>
    <p:extLst>
      <p:ext uri="{BB962C8B-B14F-4D97-AF65-F5344CB8AC3E}">
        <p14:creationId xmlns:p14="http://schemas.microsoft.com/office/powerpoint/2010/main" val="20935399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B95740-19B1-C1D5-E890-42CC89BF03B4}"/>
              </a:ext>
            </a:extLst>
          </p:cNvPr>
          <p:cNvSpPr>
            <a:spLocks noGrp="1"/>
          </p:cNvSpPr>
          <p:nvPr>
            <p:ph type="title"/>
          </p:nvPr>
        </p:nvSpPr>
        <p:spPr/>
        <p:txBody>
          <a:bodyPr/>
          <a:lstStyle/>
          <a:p>
            <a:r>
              <a:rPr lang="en-US"/>
              <a:t>Users</a:t>
            </a:r>
          </a:p>
        </p:txBody>
      </p:sp>
      <p:sp>
        <p:nvSpPr>
          <p:cNvPr id="3" name="Content Placeholder 2">
            <a:extLst>
              <a:ext uri="{FF2B5EF4-FFF2-40B4-BE49-F238E27FC236}">
                <a16:creationId xmlns:a16="http://schemas.microsoft.com/office/drawing/2014/main" id="{2C175BA4-EC04-3B03-447A-BD29B803FE53}"/>
              </a:ext>
            </a:extLst>
          </p:cNvPr>
          <p:cNvSpPr>
            <a:spLocks noGrp="1"/>
          </p:cNvSpPr>
          <p:nvPr>
            <p:ph idx="1"/>
          </p:nvPr>
        </p:nvSpPr>
        <p:spPr/>
        <p:txBody>
          <a:bodyPr vert="horz" lIns="91440" tIns="45720" rIns="91440" bIns="45720" rtlCol="0" anchor="t">
            <a:normAutofit/>
          </a:bodyPr>
          <a:lstStyle/>
          <a:p>
            <a:r>
              <a:rPr lang="en-US"/>
              <a:t>Creative Gamer</a:t>
            </a:r>
          </a:p>
          <a:p>
            <a:pPr lvl="1">
              <a:buFont typeface="Courier New" panose="020B0604020202020204" pitchFamily="34" charset="0"/>
              <a:buChar char="o"/>
            </a:pPr>
            <a:r>
              <a:rPr lang="en-US"/>
              <a:t>Primary user</a:t>
            </a:r>
          </a:p>
          <a:p>
            <a:pPr lvl="1">
              <a:buFont typeface="Courier New" panose="020B0604020202020204" pitchFamily="34" charset="0"/>
              <a:buChar char="o"/>
            </a:pPr>
            <a:r>
              <a:rPr lang="en-US"/>
              <a:t>Plays a wide variety of games (with or without past coding experience)</a:t>
            </a:r>
          </a:p>
          <a:p>
            <a:r>
              <a:rPr lang="en-US"/>
              <a:t>Arcade Operator</a:t>
            </a:r>
          </a:p>
          <a:p>
            <a:pPr lvl="1">
              <a:buFont typeface="Courier New" panose="020B0604020202020204" pitchFamily="34" charset="0"/>
              <a:buChar char="o"/>
            </a:pPr>
            <a:r>
              <a:rPr lang="en-US"/>
              <a:t>Owns or operates an arcade and wants a unique gaming experience to the customer</a:t>
            </a:r>
          </a:p>
          <a:p>
            <a:pPr lvl="1">
              <a:buFont typeface="Courier New" panose="020B0604020202020204" pitchFamily="34" charset="0"/>
              <a:buChar char="o"/>
            </a:pPr>
            <a:r>
              <a:rPr lang="en-US"/>
              <a:t>Wants a secure and safe game without lots of hassle getting the arcade machine to function properly</a:t>
            </a:r>
          </a:p>
          <a:p>
            <a:pPr>
              <a:buNone/>
            </a:pPr>
            <a:endParaRPr lang="en-US"/>
          </a:p>
          <a:p>
            <a:endParaRPr lang="en-US"/>
          </a:p>
          <a:p>
            <a:pPr lvl="1">
              <a:buFont typeface="Courier New" panose="020B0604020202020204" pitchFamily="34" charset="0"/>
              <a:buChar char="o"/>
            </a:pPr>
            <a:endParaRPr lang="en-US"/>
          </a:p>
          <a:p>
            <a:pPr marL="457200" lvl="1" indent="0">
              <a:buNone/>
            </a:pPr>
            <a:endParaRPr lang="en-US"/>
          </a:p>
        </p:txBody>
      </p:sp>
    </p:spTree>
    <p:extLst>
      <p:ext uri="{BB962C8B-B14F-4D97-AF65-F5344CB8AC3E}">
        <p14:creationId xmlns:p14="http://schemas.microsoft.com/office/powerpoint/2010/main" val="17501930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F6241-6661-AB1F-3E9A-A43722E1033C}"/>
              </a:ext>
            </a:extLst>
          </p:cNvPr>
          <p:cNvSpPr>
            <a:spLocks noGrp="1"/>
          </p:cNvSpPr>
          <p:nvPr>
            <p:ph type="title"/>
          </p:nvPr>
        </p:nvSpPr>
        <p:spPr/>
        <p:txBody>
          <a:bodyPr/>
          <a:lstStyle/>
          <a:p>
            <a:r>
              <a:rPr lang="en-US"/>
              <a:t>Creative Gamer Needs</a:t>
            </a:r>
          </a:p>
        </p:txBody>
      </p:sp>
      <p:sp>
        <p:nvSpPr>
          <p:cNvPr id="3" name="Content Placeholder 2">
            <a:extLst>
              <a:ext uri="{FF2B5EF4-FFF2-40B4-BE49-F238E27FC236}">
                <a16:creationId xmlns:a16="http://schemas.microsoft.com/office/drawing/2014/main" id="{6A93D8CE-AB52-DC1E-A79B-E08AED0FBFC9}"/>
              </a:ext>
            </a:extLst>
          </p:cNvPr>
          <p:cNvSpPr>
            <a:spLocks noGrp="1"/>
          </p:cNvSpPr>
          <p:nvPr>
            <p:ph idx="1"/>
          </p:nvPr>
        </p:nvSpPr>
        <p:spPr/>
        <p:txBody>
          <a:bodyPr vert="horz" lIns="91440" tIns="45720" rIns="91440" bIns="45720" rtlCol="0" anchor="t">
            <a:normAutofit/>
          </a:bodyPr>
          <a:lstStyle/>
          <a:p>
            <a:r>
              <a:rPr lang="en-US"/>
              <a:t>Ability to create a new game only using AI prompts</a:t>
            </a:r>
          </a:p>
          <a:p>
            <a:r>
              <a:rPr lang="en-US"/>
              <a:t>No technical coding requirement</a:t>
            </a:r>
          </a:p>
          <a:p>
            <a:r>
              <a:rPr lang="en-US"/>
              <a:t>Simple and engaging graphics</a:t>
            </a:r>
          </a:p>
          <a:p>
            <a:r>
              <a:rPr lang="en-US"/>
              <a:t>Clear and intuitive controls (similar to other retro games, i.e. joystick, buttons, etc.)</a:t>
            </a:r>
          </a:p>
          <a:p>
            <a:r>
              <a:rPr lang="en-US"/>
              <a:t>Functionality for saving a previous game version to the machine</a:t>
            </a:r>
          </a:p>
          <a:p>
            <a:r>
              <a:rPr lang="en-US"/>
              <a:t>AI mod suggestions</a:t>
            </a:r>
          </a:p>
          <a:p>
            <a:endParaRPr lang="en-US"/>
          </a:p>
          <a:p>
            <a:endParaRPr lang="en-US"/>
          </a:p>
        </p:txBody>
      </p:sp>
    </p:spTree>
    <p:extLst>
      <p:ext uri="{BB962C8B-B14F-4D97-AF65-F5344CB8AC3E}">
        <p14:creationId xmlns:p14="http://schemas.microsoft.com/office/powerpoint/2010/main" val="31578564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FA93DB-D9B3-EF7B-C6B9-F3A7EFCA5BB1}"/>
              </a:ext>
            </a:extLst>
          </p:cNvPr>
          <p:cNvSpPr>
            <a:spLocks noGrp="1"/>
          </p:cNvSpPr>
          <p:nvPr>
            <p:ph type="title"/>
          </p:nvPr>
        </p:nvSpPr>
        <p:spPr/>
        <p:txBody>
          <a:bodyPr/>
          <a:lstStyle/>
          <a:p>
            <a:r>
              <a:rPr lang="en-US"/>
              <a:t>Arcade Operator Needs </a:t>
            </a:r>
          </a:p>
        </p:txBody>
      </p:sp>
      <p:sp>
        <p:nvSpPr>
          <p:cNvPr id="3" name="Content Placeholder 2">
            <a:extLst>
              <a:ext uri="{FF2B5EF4-FFF2-40B4-BE49-F238E27FC236}">
                <a16:creationId xmlns:a16="http://schemas.microsoft.com/office/drawing/2014/main" id="{CEF2FB66-BE31-0444-6D25-B386271DEEDD}"/>
              </a:ext>
            </a:extLst>
          </p:cNvPr>
          <p:cNvSpPr>
            <a:spLocks noGrp="1"/>
          </p:cNvSpPr>
          <p:nvPr>
            <p:ph idx="1"/>
          </p:nvPr>
        </p:nvSpPr>
        <p:spPr/>
        <p:txBody>
          <a:bodyPr vert="horz" lIns="91440" tIns="45720" rIns="91440" bIns="45720" rtlCol="0" anchor="t">
            <a:normAutofit/>
          </a:bodyPr>
          <a:lstStyle/>
          <a:p>
            <a:r>
              <a:rPr lang="en-US"/>
              <a:t>A reliable game that is low maintenance</a:t>
            </a:r>
          </a:p>
          <a:p>
            <a:r>
              <a:rPr lang="en-US"/>
              <a:t>Security controls </a:t>
            </a:r>
          </a:p>
          <a:p>
            <a:pPr lvl="1">
              <a:buFont typeface="Courier New" panose="020B0604020202020204" pitchFamily="34" charset="0"/>
              <a:buChar char="o"/>
            </a:pPr>
            <a:r>
              <a:rPr lang="en-US"/>
              <a:t>Prevent inappropriate content</a:t>
            </a:r>
          </a:p>
          <a:p>
            <a:pPr lvl="1">
              <a:buFont typeface="Courier New" panose="020B0604020202020204" pitchFamily="34" charset="0"/>
              <a:buChar char="o"/>
            </a:pPr>
            <a:r>
              <a:rPr lang="en-US"/>
              <a:t>Control user operation</a:t>
            </a:r>
          </a:p>
          <a:p>
            <a:pPr lvl="1">
              <a:buFont typeface="Courier New" panose="020B0604020202020204" pitchFamily="34" charset="0"/>
              <a:buChar char="o"/>
            </a:pPr>
            <a:r>
              <a:rPr lang="en-US"/>
              <a:t>System security</a:t>
            </a:r>
          </a:p>
          <a:p>
            <a:r>
              <a:rPr lang="en-US"/>
              <a:t>Easy to deploy (fairly plug-and-play)</a:t>
            </a:r>
          </a:p>
          <a:p>
            <a:r>
              <a:rPr lang="en-US"/>
              <a:t>Ability to roll back to a safe game state</a:t>
            </a:r>
          </a:p>
          <a:p>
            <a:endParaRPr lang="en-US"/>
          </a:p>
        </p:txBody>
      </p:sp>
    </p:spTree>
    <p:extLst>
      <p:ext uri="{BB962C8B-B14F-4D97-AF65-F5344CB8AC3E}">
        <p14:creationId xmlns:p14="http://schemas.microsoft.com/office/powerpoint/2010/main" val="27557341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3A45CA-A7BE-A5F6-A6DC-74C98268B710}"/>
              </a:ext>
            </a:extLst>
          </p:cNvPr>
          <p:cNvSpPr>
            <a:spLocks noGrp="1"/>
          </p:cNvSpPr>
          <p:nvPr>
            <p:ph type="title"/>
          </p:nvPr>
        </p:nvSpPr>
        <p:spPr/>
        <p:txBody>
          <a:bodyPr/>
          <a:lstStyle/>
          <a:p>
            <a:r>
              <a:rPr lang="en-US"/>
              <a:t>Conclusions </a:t>
            </a:r>
          </a:p>
        </p:txBody>
      </p:sp>
      <p:sp>
        <p:nvSpPr>
          <p:cNvPr id="3" name="Content Placeholder 2">
            <a:extLst>
              <a:ext uri="{FF2B5EF4-FFF2-40B4-BE49-F238E27FC236}">
                <a16:creationId xmlns:a16="http://schemas.microsoft.com/office/drawing/2014/main" id="{2BB25A32-EB53-2BC6-10E9-7694681A781F}"/>
              </a:ext>
            </a:extLst>
          </p:cNvPr>
          <p:cNvSpPr>
            <a:spLocks noGrp="1"/>
          </p:cNvSpPr>
          <p:nvPr>
            <p:ph idx="1"/>
          </p:nvPr>
        </p:nvSpPr>
        <p:spPr>
          <a:xfrm>
            <a:off x="1484310" y="2055090"/>
            <a:ext cx="10018713" cy="3124201"/>
          </a:xfrm>
        </p:spPr>
        <p:txBody>
          <a:bodyPr vert="horz" lIns="91440" tIns="45720" rIns="91440" bIns="45720" rtlCol="0" anchor="t">
            <a:normAutofit lnSpcReduction="10000"/>
          </a:bodyPr>
          <a:lstStyle/>
          <a:p>
            <a:r>
              <a:rPr lang="en-US" sz="2400" b="1">
                <a:ea typeface="+mn-lt"/>
                <a:cs typeface="+mn-lt"/>
              </a:rPr>
              <a:t>Problem:</a:t>
            </a:r>
            <a:r>
              <a:rPr lang="en-US" sz="2400">
                <a:ea typeface="+mn-lt"/>
                <a:cs typeface="+mn-lt"/>
              </a:rPr>
              <a:t> Technical barriers keep retro game fans from customizing the games they love.</a:t>
            </a:r>
            <a:endParaRPr lang="en-US" sz="2400"/>
          </a:p>
          <a:p>
            <a:pPr marL="0" indent="0">
              <a:buNone/>
            </a:pPr>
            <a:endParaRPr lang="en-US" sz="2400">
              <a:ea typeface="+mn-lt"/>
              <a:cs typeface="+mn-lt"/>
            </a:endParaRPr>
          </a:p>
          <a:p>
            <a:r>
              <a:rPr lang="en-US" sz="2400" b="1">
                <a:ea typeface="+mn-lt"/>
                <a:cs typeface="+mn-lt"/>
              </a:rPr>
              <a:t>Solution:</a:t>
            </a:r>
            <a:r>
              <a:rPr lang="en-US" sz="2400">
                <a:ea typeface="+mn-lt"/>
                <a:cs typeface="+mn-lt"/>
              </a:rPr>
              <a:t> AI Arcade turns plain-language requests into real game modifications to keep retro games exciting</a:t>
            </a:r>
          </a:p>
          <a:p>
            <a:pPr marL="0" indent="0">
              <a:buNone/>
            </a:pPr>
            <a:endParaRPr lang="en-US" sz="2400">
              <a:ea typeface="+mn-lt"/>
              <a:cs typeface="+mn-lt"/>
            </a:endParaRPr>
          </a:p>
          <a:p>
            <a:r>
              <a:rPr lang="en-US" sz="2400" b="1">
                <a:ea typeface="+mn-lt"/>
                <a:cs typeface="+mn-lt"/>
              </a:rPr>
              <a:t>Impact:</a:t>
            </a:r>
            <a:r>
              <a:rPr lang="en-US" sz="2400">
                <a:ea typeface="+mn-lt"/>
                <a:cs typeface="+mn-lt"/>
              </a:rPr>
              <a:t> Creative Gamers get a no-code path to bring their ideas to life. Arcade Operators get a secure, low-maintenance, plug-and-play system.</a:t>
            </a:r>
            <a:endParaRPr lang="en-US" sz="2400"/>
          </a:p>
          <a:p>
            <a:pPr marL="0" indent="0">
              <a:buNone/>
            </a:pPr>
            <a:endParaRPr lang="en-US" sz="2400">
              <a:ea typeface="+mn-lt"/>
              <a:cs typeface="+mn-lt"/>
            </a:endParaRPr>
          </a:p>
          <a:p>
            <a:r>
              <a:rPr lang="en-US" sz="2400" b="1">
                <a:ea typeface="+mn-lt"/>
                <a:cs typeface="+mn-lt"/>
              </a:rPr>
              <a:t>Next steps:</a:t>
            </a:r>
            <a:r>
              <a:rPr lang="en-US" sz="2400">
                <a:ea typeface="+mn-lt"/>
                <a:cs typeface="+mn-lt"/>
              </a:rPr>
              <a:t> User testing &amp; UI/UX refinement, strengthening AI security controls, and building toward full cabinet deployment.</a:t>
            </a:r>
            <a:endParaRPr lang="en-US" sz="2400"/>
          </a:p>
          <a:p>
            <a:endParaRPr lang="en-US"/>
          </a:p>
        </p:txBody>
      </p:sp>
    </p:spTree>
    <p:extLst>
      <p:ext uri="{BB962C8B-B14F-4D97-AF65-F5344CB8AC3E}">
        <p14:creationId xmlns:p14="http://schemas.microsoft.com/office/powerpoint/2010/main" val="254136243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7</Slides>
  <Notes>1</Notes>
  <HiddenSlides>0</HiddenSlide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Parallax</vt:lpstr>
      <vt:lpstr>AI Arcade</vt:lpstr>
      <vt:lpstr>Project Overview </vt:lpstr>
      <vt:lpstr>Project Statement   </vt:lpstr>
      <vt:lpstr>Users</vt:lpstr>
      <vt:lpstr>Creative Gamer Needs</vt:lpstr>
      <vt:lpstr>Arcade Operator Needs </vt:lpstr>
      <vt:lpstr>Conclusions 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2</cp:revision>
  <dcterms:created xsi:type="dcterms:W3CDTF">2026-09-18T13:42:11Z</dcterms:created>
  <dcterms:modified xsi:type="dcterms:W3CDTF">2026-10-07T02:04:21Z</dcterms:modified>
</cp:coreProperties>
</file>